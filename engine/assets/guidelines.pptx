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37.xml"/>
  <Override ContentType="application/vnd.openxmlformats-officedocument.presentationml.slide+xml" PartName="/ppt/slides/slide48.xml"/>
  <Override ContentType="application/vnd.openxmlformats-officedocument.presentationml.slide+xml" PartName="/ppt/slides/slide87.xml"/>
  <Override ContentType="application/vnd.openxmlformats-officedocument.presentationml.slide+xml" PartName="/ppt/slides/slide16.xml"/>
  <Override ContentType="application/vnd.openxmlformats-officedocument.presentationml.slide+xml" PartName="/ppt/slides/slide106.xml"/>
  <Override ContentType="application/vnd.openxmlformats-officedocument.presentationml.slide+xml" PartName="/ppt/slides/slide2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71" r:id="rId22"/>
    <p:sldId id="276" r:id="rId27"/>
    <p:sldId id="292" r:id="rId43"/>
    <p:sldId id="303" r:id="rId54"/>
    <p:sldId id="306" r:id="rId57"/>
    <p:sldId id="323" r:id="rId74"/>
    <p:sldId id="342" r:id="rId93"/>
    <p:sldId id="361" r:id="rId112"/>
  </p:sldIdLst>
  <p:sldSz cy="5143500" cx="9144000"/>
  <p:notesSz cx="6858000" cy="9144000"/>
  <p:embeddedFontLst>
    <p:embeddedFont>
      <p:font typeface="JetBrains Mono ExtraLight"/>
      <p:regular r:id="rId113"/>
      <p:bold r:id="rId114"/>
      <p:italic r:id="rId115"/>
      <p:boldItalic r:id="rId116"/>
    </p:embeddedFont>
    <p:embeddedFont>
      <p:font typeface="Inter"/>
      <p:regular r:id="rId117"/>
      <p:bold r:id="rId118"/>
      <p:italic r:id="rId119"/>
      <p:boldItalic r:id="rId120"/>
    </p:embeddedFont>
    <p:embeddedFont>
      <p:font typeface="JetBrains Mono Thin"/>
      <p:regular r:id="rId121"/>
      <p:bold r:id="rId122"/>
      <p:italic r:id="rId123"/>
      <p:boldItalic r:id="rId124"/>
    </p:embeddedFont>
    <p:embeddedFont>
      <p:font typeface="JetBrains Mono"/>
      <p:regular r:id="rId125"/>
      <p:bold r:id="rId126"/>
      <p:italic r:id="rId127"/>
      <p:boldItalic r:id="rId1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">
          <p15:clr>
            <a:srgbClr val="747775"/>
          </p15:clr>
        </p15:guide>
        <p15:guide id="2" orient="horz" pos="3060">
          <p15:clr>
            <a:srgbClr val="747775"/>
          </p15:clr>
        </p15:guide>
        <p15:guide id="3" pos="120">
          <p15:clr>
            <a:srgbClr val="747775"/>
          </p15:clr>
        </p15:guide>
        <p15:guide id="4" pos="5640">
          <p15:clr>
            <a:srgbClr val="747775"/>
          </p15:clr>
        </p15:guide>
        <p15:guide id="5" pos="1411">
          <p15:clr>
            <a:srgbClr val="747775"/>
          </p15:clr>
        </p15:guide>
        <p15:guide id="6" pos="2820">
          <p15:clr>
            <a:srgbClr val="747775"/>
          </p15:clr>
        </p15:guide>
        <p15:guide id="7" pos="1530">
          <p15:clr>
            <a:srgbClr val="747775"/>
          </p15:clr>
        </p15:guide>
        <p15:guide id="8" pos="2940">
          <p15:clr>
            <a:srgbClr val="747775"/>
          </p15:clr>
        </p15:guide>
        <p15:guide id="9" pos="4230">
          <p15:clr>
            <a:srgbClr val="747775"/>
          </p15:clr>
        </p15:guide>
        <p15:guide id="10" pos="4349">
          <p15:clr>
            <a:srgbClr val="747775"/>
          </p15:clr>
        </p15:guide>
        <p15:guide id="11" orient="horz" pos="636">
          <p15:clr>
            <a:srgbClr val="747775"/>
          </p15:clr>
        </p15:guide>
        <p15:guide id="12" orient="horz" pos="540">
          <p15:clr>
            <a:srgbClr val="747775"/>
          </p15:clr>
        </p15:guide>
        <p15:guide id="13" orient="horz" pos="314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BBAAAA-1E64-43C2-B3C9-485A469EB833}">
  <a:tblStyle styleId="{3ABBAAAA-1E64-43C2-B3C9-485A469EB8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" orient="horz"/>
        <p:guide pos="3060" orient="horz"/>
        <p:guide pos="120"/>
        <p:guide pos="5640"/>
        <p:guide pos="1411"/>
        <p:guide pos="2820"/>
        <p:guide pos="1530"/>
        <p:guide pos="2940"/>
        <p:guide pos="4230"/>
        <p:guide pos="4349"/>
        <p:guide pos="636" orient="horz"/>
        <p:guide pos="540" orient="horz"/>
        <p:guide pos="314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43" Type="http://schemas.openxmlformats.org/officeDocument/2006/relationships/slide" Target="slides/slide37.xml"/><Relationship Id="rId22" Type="http://schemas.openxmlformats.org/officeDocument/2006/relationships/slide" Target="slides/slide16.xml"/><Relationship Id="rId128" Type="http://schemas.openxmlformats.org/officeDocument/2006/relationships/font" Target="fonts/JetBrainsMono-boldItalic.fntdata"/><Relationship Id="rId127" Type="http://schemas.openxmlformats.org/officeDocument/2006/relationships/font" Target="fonts/JetBrainsMono-italic.fntdata"/><Relationship Id="rId126" Type="http://schemas.openxmlformats.org/officeDocument/2006/relationships/font" Target="fonts/JetBrainsMono-bold.fntdata"/><Relationship Id="rId121" Type="http://schemas.openxmlformats.org/officeDocument/2006/relationships/font" Target="fonts/JetBrainsMonoThin-regular.fntdata"/><Relationship Id="rId120" Type="http://schemas.openxmlformats.org/officeDocument/2006/relationships/font" Target="fonts/Inter-boldItalic.fntdata"/><Relationship Id="rId27" Type="http://schemas.openxmlformats.org/officeDocument/2006/relationships/slide" Target="slides/slide21.xml"/><Relationship Id="rId125" Type="http://schemas.openxmlformats.org/officeDocument/2006/relationships/font" Target="fonts/JetBrainsMono-regular.fntdata"/><Relationship Id="rId124" Type="http://schemas.openxmlformats.org/officeDocument/2006/relationships/font" Target="fonts/JetBrainsMonoThin-boldItalic.fntdata"/><Relationship Id="rId123" Type="http://schemas.openxmlformats.org/officeDocument/2006/relationships/font" Target="fonts/JetBrainsMonoThin-italic.fntdata"/><Relationship Id="rId122" Type="http://schemas.openxmlformats.org/officeDocument/2006/relationships/font" Target="fonts/JetBrainsMonoThin-bold.fntdata"/><Relationship Id="rId93" Type="http://schemas.openxmlformats.org/officeDocument/2006/relationships/slide" Target="slides/slide87.xml"/><Relationship Id="rId118" Type="http://schemas.openxmlformats.org/officeDocument/2006/relationships/font" Target="fonts/Inter-bold.fntdata"/><Relationship Id="rId117" Type="http://schemas.openxmlformats.org/officeDocument/2006/relationships/font" Target="fonts/Inter-regular.fntdata"/><Relationship Id="rId116" Type="http://schemas.openxmlformats.org/officeDocument/2006/relationships/font" Target="fonts/JetBrainsMonoExtraLight-boldItalic.fntdata"/><Relationship Id="rId115" Type="http://schemas.openxmlformats.org/officeDocument/2006/relationships/font" Target="fonts/JetBrainsMonoExtraLight-italic.fntdata"/><Relationship Id="rId119" Type="http://schemas.openxmlformats.org/officeDocument/2006/relationships/font" Target="fonts/Inter-italic.fntdata"/><Relationship Id="rId114" Type="http://schemas.openxmlformats.org/officeDocument/2006/relationships/font" Target="fonts/JetBrainsMonoExtraLight-bold.fntdata"/><Relationship Id="rId113" Type="http://schemas.openxmlformats.org/officeDocument/2006/relationships/font" Target="fonts/JetBrainsMonoExtraLight-regular.fntdata"/><Relationship Id="rId112" Type="http://schemas.openxmlformats.org/officeDocument/2006/relationships/slide" Target="slides/slide10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4" Type="http://schemas.openxmlformats.org/officeDocument/2006/relationships/slide" Target="slides/slide68.xml"/><Relationship Id="rId54" Type="http://schemas.openxmlformats.org/officeDocument/2006/relationships/slide" Target="slides/slide48.xml"/><Relationship Id="rId57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.png"/></Relationships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A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67675" y="84600"/>
            <a:ext cx="664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0800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Теория</a:t>
            </a:r>
            <a:endParaRPr b="1" sz="4000">
              <a:solidFill>
                <a:srgbClr val="08004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100748" y="2675775"/>
            <a:ext cx="66147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ru" sz="2000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Концентрированная подача ключевой теории. Используйте схемы, иконки, плитки, а не сплошной текст.</a:t>
            </a:r>
            <a:endParaRPr sz="2000"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96504" y="48405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rgbClr val="D4D3E2"/>
                </a:solidFill>
              </a:rPr>
              <a:t>‹#›</a:t>
            </a:fld>
            <a:endParaRPr>
              <a:solidFill>
                <a:srgbClr val="D4D3E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04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"/>
            <a:ext cx="9144000" cy="51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3"/>
          <p:cNvSpPr txBox="1"/>
          <p:nvPr/>
        </p:nvSpPr>
        <p:spPr>
          <a:xfrm>
            <a:off x="1740025" y="2233200"/>
            <a:ext cx="566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FF06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Вопросы</a:t>
            </a:r>
            <a:endParaRPr b="1" sz="4000">
              <a:solidFill>
                <a:srgbClr val="FF067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04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"/>
            <a:ext cx="9144000" cy="51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9"/>
          <p:cNvSpPr txBox="1"/>
          <p:nvPr/>
        </p:nvSpPr>
        <p:spPr>
          <a:xfrm>
            <a:off x="7277710" y="3823682"/>
            <a:ext cx="18663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0">
                <a:solidFill>
                  <a:srgbClr val="FF067E"/>
                </a:solidFill>
                <a:latin typeface="JetBrains Mono ExtraLight"/>
                <a:ea typeface="JetBrains Mono ExtraLight"/>
                <a:cs typeface="JetBrains Mono ExtraLight"/>
                <a:sym typeface="JetBrains Mono ExtraLight"/>
              </a:rPr>
              <a:t>24</a:t>
            </a:r>
            <a:endParaRPr sz="10000">
              <a:solidFill>
                <a:srgbClr val="FF067E"/>
              </a:solidFill>
              <a:latin typeface="JetBrains Mono ExtraLight"/>
              <a:ea typeface="JetBrains Mono ExtraLight"/>
              <a:cs typeface="JetBrains Mono ExtraLight"/>
              <a:sym typeface="JetBrains Mono ExtraLight"/>
            </a:endParaRPr>
          </a:p>
        </p:txBody>
      </p:sp>
      <p:sp>
        <p:nvSpPr>
          <p:cNvPr id="318" name="Google Shape;318;p49"/>
          <p:cNvSpPr txBox="1"/>
          <p:nvPr/>
        </p:nvSpPr>
        <p:spPr>
          <a:xfrm>
            <a:off x="67675" y="84600"/>
            <a:ext cx="664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FF06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Это слайд с названием лекции и ее номером</a:t>
            </a:r>
            <a:endParaRPr b="1" sz="4000">
              <a:solidFill>
                <a:srgbClr val="FF067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9" name="Google Shape;319;p49"/>
          <p:cNvSpPr txBox="1"/>
          <p:nvPr/>
        </p:nvSpPr>
        <p:spPr>
          <a:xfrm>
            <a:off x="100750" y="3797950"/>
            <a:ext cx="43761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ru" sz="2000">
                <a:solidFill>
                  <a:srgbClr val="FF06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Тут имя лектора или название курса</a:t>
            </a:r>
            <a:endParaRPr sz="2000">
              <a:solidFill>
                <a:srgbClr val="FF067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A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/>
          <p:nvPr/>
        </p:nvSpPr>
        <p:spPr>
          <a:xfrm>
            <a:off x="67675" y="84600"/>
            <a:ext cx="664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0800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Крупный текст с подзаголовками</a:t>
            </a:r>
            <a:endParaRPr b="1" sz="4000">
              <a:solidFill>
                <a:srgbClr val="08004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99" name="Google Shape;399;p60"/>
          <p:cNvSpPr txBox="1"/>
          <p:nvPr/>
        </p:nvSpPr>
        <p:spPr>
          <a:xfrm>
            <a:off x="100750" y="1666875"/>
            <a:ext cx="8852700" cy="3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Как передать максимальное количество информации?</a:t>
            </a:r>
            <a:br>
              <a:rPr lang="ru" sz="2000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2000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Можно закачать информацию в свой телефон или распечатать небольшие карточки. Так вы будете выглядеть подготовленным в отличие от ситуации, когда вы читаете со слайда, развернувшись к зрителям боком или спиной.</a:t>
            </a:r>
            <a:endParaRPr sz="2000"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 sz="2000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Как передать максимальное количество информации?</a:t>
            </a:r>
            <a:br>
              <a:rPr lang="ru" sz="2000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 sz="2000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Можно закачать информацию в свой телефон или распечатать небольшие карточки. Так вы будете выглядеть подготовленным в отличие от ситуации, когда вы читаете со слайда, развернувшись к зрителям боком или спиной.</a:t>
            </a:r>
            <a:endParaRPr sz="2000"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60"/>
          <p:cNvSpPr txBox="1"/>
          <p:nvPr>
            <p:ph idx="12" type="sldNum"/>
          </p:nvPr>
        </p:nvSpPr>
        <p:spPr>
          <a:xfrm>
            <a:off x="96504" y="48405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rgbClr val="D4D3E2"/>
                </a:solidFill>
              </a:rPr>
              <a:t>‹#›</a:t>
            </a:fld>
            <a:endParaRPr>
              <a:solidFill>
                <a:srgbClr val="D4D3E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A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3"/>
          <p:cNvSpPr txBox="1"/>
          <p:nvPr/>
        </p:nvSpPr>
        <p:spPr>
          <a:xfrm>
            <a:off x="97375" y="1689211"/>
            <a:ext cx="4379400" cy="3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Что делать, если нет времени учить?</a:t>
            </a:r>
            <a:b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Можно закачать информацию в свой телефон или распечатать небольшие карточки. Так вы будете выглядеть подготовленным в отличие от ситуации, когда вы читаете со слайда, развернувшись к зрителям боком или спиной.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Почему чтение со слайдов — это проблема?</a:t>
            </a:r>
            <a:b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Очень небольшой процент людей в мире может одновременно понимать информацию, читая и слушая. Это значит, что в зале будут люди, которые будут либо вас слушать, либо читать со слайда. В обоих случаях они будут раздражены, потому что почувствуют, что теряют часть важной информации.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63"/>
          <p:cNvSpPr txBox="1"/>
          <p:nvPr/>
        </p:nvSpPr>
        <p:spPr>
          <a:xfrm>
            <a:off x="67675" y="84600"/>
            <a:ext cx="6647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0800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Маленький текст в колонках</a:t>
            </a:r>
            <a:endParaRPr b="1" sz="4000">
              <a:solidFill>
                <a:srgbClr val="08004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22" name="Google Shape;422;p63"/>
          <p:cNvSpPr txBox="1"/>
          <p:nvPr/>
        </p:nvSpPr>
        <p:spPr>
          <a:xfrm>
            <a:off x="4567225" y="1689200"/>
            <a:ext cx="43794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Как передать максимальное количество информации?</a:t>
            </a:r>
            <a:b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Поставьте на слайд QR-код со ссылкой на ваши дополнительные материалы или вышлите вторую версию презентации, в которой будет информация для чтения.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>
                <a:solidFill>
                  <a:srgbClr val="FF067E"/>
                </a:solidFill>
                <a:latin typeface="Inter"/>
                <a:ea typeface="Inter"/>
                <a:cs typeface="Inter"/>
                <a:sym typeface="Inter"/>
              </a:rPr>
              <a:t>Что делать, если нет времени учить?</a:t>
            </a:r>
            <a:b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Можно закачать информацию в свой телефон или распечатать небольшие карточки. Так вы будете выглядеть подготовленным в отличие от ситуации, когда вы читаете со слайда, развернувшись к зрителям боком или спиной.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63"/>
          <p:cNvSpPr txBox="1"/>
          <p:nvPr>
            <p:ph idx="12" type="sldNum"/>
          </p:nvPr>
        </p:nvSpPr>
        <p:spPr>
          <a:xfrm>
            <a:off x="96504" y="48405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rgbClr val="D4D3E2"/>
                </a:solidFill>
              </a:rPr>
              <a:t>‹#›</a:t>
            </a:fld>
            <a:endParaRPr>
              <a:solidFill>
                <a:srgbClr val="D4D3E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A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0"/>
          <p:cNvSpPr txBox="1"/>
          <p:nvPr/>
        </p:nvSpPr>
        <p:spPr>
          <a:xfrm>
            <a:off x="67675" y="84600"/>
            <a:ext cx="664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0800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Картинка с колонками</a:t>
            </a:r>
            <a:endParaRPr b="1" sz="4000">
              <a:solidFill>
                <a:srgbClr val="08004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41" name="Google Shape;541;p80"/>
          <p:cNvSpPr txBox="1"/>
          <p:nvPr/>
        </p:nvSpPr>
        <p:spPr>
          <a:xfrm>
            <a:off x="97375" y="3954995"/>
            <a:ext cx="4379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Изучить рекомендации, которые основываются на статистике взаимодействия пользователя с похожими товарами или с теми, которые обычно покупаются в одной 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2" name="Google Shape;542;p80"/>
          <p:cNvSpPr txBox="1"/>
          <p:nvPr/>
        </p:nvSpPr>
        <p:spPr>
          <a:xfrm>
            <a:off x="4574100" y="3954995"/>
            <a:ext cx="4379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ru">
                <a:solidFill>
                  <a:srgbClr val="080040"/>
                </a:solidFill>
                <a:latin typeface="Inter"/>
                <a:ea typeface="Inter"/>
                <a:cs typeface="Inter"/>
                <a:sym typeface="Inter"/>
              </a:rPr>
              <a:t>Изучить рекомендации, которые основываются на статистике взаимодействия пользователя с похожими товарами или с теми, которые обычно покупаются в одной </a:t>
            </a:r>
            <a:endParaRPr>
              <a:solidFill>
                <a:srgbClr val="080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80"/>
          <p:cNvSpPr/>
          <p:nvPr/>
        </p:nvSpPr>
        <p:spPr>
          <a:xfrm>
            <a:off x="190500" y="857250"/>
            <a:ext cx="8763000" cy="3054600"/>
          </a:xfrm>
          <a:prstGeom prst="rect">
            <a:avLst/>
          </a:prstGeom>
          <a:solidFill>
            <a:srgbClr val="080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0040"/>
              </a:solidFill>
            </a:endParaRPr>
          </a:p>
        </p:txBody>
      </p:sp>
      <p:sp>
        <p:nvSpPr>
          <p:cNvPr id="544" name="Google Shape;544;p80"/>
          <p:cNvSpPr txBox="1"/>
          <p:nvPr>
            <p:ph idx="12" type="sldNum"/>
          </p:nvPr>
        </p:nvSpPr>
        <p:spPr>
          <a:xfrm>
            <a:off x="96504" y="48405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rgbClr val="D4D3E2"/>
                </a:solidFill>
              </a:rPr>
              <a:t>‹#›</a:t>
            </a:fld>
            <a:endParaRPr>
              <a:solidFill>
                <a:srgbClr val="D4D3E2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AF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9"/>
          <p:cNvSpPr txBox="1"/>
          <p:nvPr/>
        </p:nvSpPr>
        <p:spPr>
          <a:xfrm>
            <a:off x="67675" y="84600"/>
            <a:ext cx="664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08004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Плитка</a:t>
            </a:r>
            <a:endParaRPr b="1" sz="4000">
              <a:solidFill>
                <a:srgbClr val="08004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aphicFrame>
        <p:nvGraphicFramePr>
          <p:cNvPr id="688" name="Google Shape;688;p99"/>
          <p:cNvGraphicFramePr/>
          <p:nvPr/>
        </p:nvGraphicFramePr>
        <p:xfrm>
          <a:off x="-3" y="1333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{3ABBAAAA-1E64-43C2-B3C9-485A469EB833}</a:tableStyleId>
              </a:tblPr>
              <a:tblGrid>
                <a:gridCol w="4572000"/>
                <a:gridCol w="4572000"/>
              </a:tblGrid>
              <a:tr h="190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000">
                          <a:solidFill>
                            <a:srgbClr val="08004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Заголовок плитки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rgbClr val="08004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Поставьте на слайд QR-код со ссылкой на ваши дополнительные материалы или вышлите вторую версию презентации, в которой будет информация для чтения.</a:t>
                      </a:r>
                      <a:endParaRPr sz="1000">
                        <a:solidFill>
                          <a:srgbClr val="08004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190500" marR="381000" marL="190500">
                    <a:lnL cap="flat" cmpd="sng" w="114300">
                      <a:solidFill>
                        <a:srgbClr val="F2FA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2000">
                          <a:solidFill>
                            <a:srgbClr val="08004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Заголовок плитки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rgbClr val="08004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Поставьте на слайд QR-код со ссылкой на ваши дополнительные материалы или вышлите вторую версию презентации, в которой будет информация для чтения. 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0" marB="190500" marR="381000" marL="190500">
                    <a:lnL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2000">
                          <a:solidFill>
                            <a:srgbClr val="08004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Заголовок плитки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rgbClr val="08004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Поставьте на слайд QR-код со ссылкой на ваши дополнительные материалы или вышлите вторую версию презентации, в которой будет информация для чтения.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90500" marB="190500" marR="381000" marL="190500">
                    <a:lnL cap="flat" cmpd="sng" w="114300">
                      <a:solidFill>
                        <a:srgbClr val="F2FA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2000">
                          <a:solidFill>
                            <a:srgbClr val="08004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Заголовок плитки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rgbClr val="08004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Поставьте на слайд QR-код со ссылкой на ваши дополнительные материалы или вышлите вторую версию презентации, в которой будет информация для чтения.</a:t>
                      </a:r>
                      <a:endParaRPr b="1">
                        <a:solidFill>
                          <a:srgbClr val="08004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90500" marB="190500" marR="381000" marL="190500">
                    <a:lnL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D3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9" name="Google Shape;689;p99"/>
          <p:cNvSpPr txBox="1"/>
          <p:nvPr>
            <p:ph idx="12" type="sldNum"/>
          </p:nvPr>
        </p:nvSpPr>
        <p:spPr>
          <a:xfrm>
            <a:off x="96504" y="484051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rgbClr val="D4D3E2"/>
                </a:solidFill>
              </a:rPr>
              <a:t>‹#›</a:t>
            </a:fld>
            <a:endParaRPr>
              <a:solidFill>
                <a:srgbClr val="D4D3E2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040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"/>
            <a:ext cx="9144000" cy="51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18"/>
          <p:cNvSpPr txBox="1"/>
          <p:nvPr/>
        </p:nvSpPr>
        <p:spPr>
          <a:xfrm>
            <a:off x="964350" y="2233200"/>
            <a:ext cx="721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rgbClr val="FF067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Спасибо за внимание!</a:t>
            </a:r>
            <a:endParaRPr b="1" sz="4000">
              <a:solidFill>
                <a:srgbClr val="FF067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